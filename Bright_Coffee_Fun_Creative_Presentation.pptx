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" y="365760"/>
            <a:ext cx="1188720" cy="118872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645920" cy="1645920"/>
          </a:xfrm>
          <a:prstGeom prst="ellipse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5029200"/>
            <a:ext cx="1097280" cy="1097280"/>
          </a:xfrm>
          <a:prstGeom prst="ellipse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86400"/>
            <a:ext cx="914400" cy="914400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D6A84F"/>
                </a:solidFill>
              </a:defRPr>
            </a:pPr>
            <a:r>
              <a:t>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D6A84F"/>
                </a:solidFill>
              </a:defRPr>
            </a:pPr>
            <a:r>
              <a:t>BRIGHT COFFEE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Sales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8F2E6"/>
                </a:solidFill>
              </a:defRPr>
            </a:pPr>
            <a:r>
              <a:t>From raw transactions to business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1600200" cy="411480"/>
          </a:xfrm>
          <a:prstGeom prst="round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Databricks 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4251960"/>
            <a:ext cx="1691640" cy="411480"/>
          </a:xfrm>
          <a:prstGeom prst="roundRect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32511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Excel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251960"/>
            <a:ext cx="1965960" cy="411480"/>
          </a:xfrm>
          <a:prstGeom prst="roundRect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4325112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CEO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What did we want to learn?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6F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F4E37"/>
                </a:solidFill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t>Which categories and product types drive income?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2F7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F7E8D"/>
                </a:solidFill>
              </a:defRPr>
            </a:pPr>
            <a: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t>When does Bright Coffee sell the most?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6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67E64"/>
                </a:solidFill>
              </a:defRPr>
            </a:pPr>
            <a:r>
              <a:t>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t>Which products fly off the shelf?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1663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548235"/>
                </a:solidFill>
              </a:defRPr>
            </a:pPr>
            <a:r>
              <a:t>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526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</a:defRPr>
            </a:pPr>
            <a:r>
              <a:t>Where is revenue strongest?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From CSV to CEO dashboard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28800"/>
            <a:ext cx="1051560" cy="1051560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0632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F4E37"/>
                </a:solidFill>
              </a:defRPr>
            </a:pPr>
            <a:r>
              <a:t>RAW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47472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323"/>
                </a:solidFill>
              </a:defRPr>
            </a:pPr>
            <a:r>
              <a:t>Sales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488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F365D"/>
                </a:solidFill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834639" y="1828800"/>
            <a:ext cx="1051560" cy="1051560"/>
          </a:xfrm>
          <a:prstGeom prst="ellipse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2121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632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2F7E8D"/>
                </a:solidFill>
              </a:defRPr>
            </a:pPr>
            <a:r>
              <a:t>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7472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323"/>
                </a:solidFill>
              </a:defRPr>
            </a:pPr>
            <a:r>
              <a:t>Clean +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1488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F365D"/>
                </a:solidFill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166359" y="1828800"/>
            <a:ext cx="1051560" cy="10515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59" y="2121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0632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D6A84F"/>
                </a:solidFill>
              </a:defRPr>
            </a:pPr>
            <a: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7472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323"/>
                </a:solidFill>
              </a:defRPr>
            </a:pPr>
            <a:r>
              <a:t>Group + calculate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1488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F365D"/>
                </a:solidFill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498079" y="1828800"/>
            <a:ext cx="1051560" cy="1051560"/>
          </a:xfrm>
          <a:prstGeom prst="ellipse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121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30632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E67E64"/>
                </a:solidFill>
              </a:defRPr>
            </a:pPr>
            <a:r>
              <a:t>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59" y="347472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323"/>
                </a:solidFill>
              </a:defRPr>
            </a:pPr>
            <a:r>
              <a:t>Pivot + chart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1488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F365D"/>
                </a:solidFill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9829800" y="1828800"/>
            <a:ext cx="1051560" cy="1051560"/>
          </a:xfrm>
          <a:prstGeom prst="ellipse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121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06324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48235"/>
                </a:solidFill>
              </a:defRPr>
            </a:pPr>
            <a:r>
              <a:t>CEO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474720"/>
            <a:ext cx="2103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323"/>
                </a:solidFill>
              </a:defRPr>
            </a:pPr>
            <a:r>
              <a:t>Act + improve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How the data was prepared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40080" cy="411480"/>
          </a:xfrm>
          <a:prstGeom prst="roundRect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457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618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6F4E37"/>
                </a:solidFill>
              </a:defRPr>
            </a:pPr>
            <a:r>
              <a:t>Clean unit_price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52728"/>
            <a:ext cx="6675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</a:defRPr>
            </a:pPr>
            <a:r>
              <a:t>Convert comma-decimal values such as 3,1 → 3.1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640080" cy="411480"/>
          </a:xfrm>
          <a:prstGeom prst="round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87752"/>
            <a:ext cx="457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49631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F7E8D"/>
                </a:solidFill>
              </a:defRPr>
            </a:pPr>
            <a:r>
              <a:t>Create total_amount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87168"/>
            <a:ext cx="6675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</a:defRPr>
            </a:pPr>
            <a:r>
              <a:t>unit_price × transaction_qty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640080" cy="411480"/>
          </a:xfrm>
          <a:prstGeom prst="round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22191"/>
            <a:ext cx="457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D6A84F"/>
                </a:solidFill>
              </a:defRPr>
            </a:pPr>
            <a:r>
              <a:t>Create 30-min buckets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21607"/>
            <a:ext cx="6675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</a:defRPr>
            </a:pPr>
            <a:r>
              <a:t>Group sales into half-hour intervals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83480"/>
            <a:ext cx="640080" cy="411480"/>
          </a:xfrm>
          <a:prstGeom prst="roundRect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56632"/>
            <a:ext cx="45719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651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E67E64"/>
                </a:solidFill>
              </a:defRPr>
            </a:pPr>
            <a: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56048"/>
            <a:ext cx="6675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</a:defRPr>
            </a:pPr>
            <a:r>
              <a:t>Revenue, units, products, categories, stores &amp; 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The dashboard at a glance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6F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44751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83080"/>
            <a:ext cx="22311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6F4E37"/>
                </a:solidFill>
              </a:defRPr>
            </a:pPr>
            <a:r>
              <a:t>$698,812.33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9152"/>
            <a:ext cx="223113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Across all stores and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F7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444751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783080"/>
            <a:ext cx="22311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F7E8D"/>
                </a:solidFill>
              </a:defRPr>
            </a:pPr>
            <a:r>
              <a:t>149,116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359152"/>
            <a:ext cx="223113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Customer purchases analysed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801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444751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UNITS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783080"/>
            <a:ext cx="22311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D6A84F"/>
                </a:solidFill>
              </a:defRPr>
            </a:pPr>
            <a:r>
              <a:t>214,470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359152"/>
            <a:ext cx="223113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Items sold across the period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280160"/>
            <a:ext cx="25603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444751"/>
            <a:ext cx="2231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AVG. 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1783080"/>
            <a:ext cx="223113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67E64"/>
                </a:solidFill>
              </a:defRPr>
            </a:pPr>
            <a:r>
              <a:t>$4.69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359152"/>
            <a:ext cx="223113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Average spend per 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F365D"/>
                </a:solidFill>
              </a:defRPr>
            </a:pPr>
            <a:r>
              <a:t>These four KPIs are the heartbeat of the business.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Where is the money coming from?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65D"/>
                </a:solidFill>
              </a:defRPr>
            </a:pPr>
            <a:r>
              <a:t>Coffee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5577840" cy="3474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5577840" cy="347472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2344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F4E37"/>
                </a:solidFill>
              </a:defRPr>
            </a:pPr>
            <a:r>
              <a:t>$269,952.45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65D"/>
                </a:solidFill>
              </a:defRPr>
            </a:pPr>
            <a:r>
              <a:t>Tea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48839"/>
            <a:ext cx="5577840" cy="3474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148839"/>
            <a:ext cx="4058199" cy="347472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0312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F7E8D"/>
                </a:solidFill>
              </a:defRPr>
            </a:pPr>
            <a:r>
              <a:t>$196,405.95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65D"/>
                </a:solidFill>
              </a:defRPr>
            </a:pPr>
            <a:r>
              <a:t>Bakery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017520"/>
            <a:ext cx="5577840" cy="3474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3017520"/>
            <a:ext cx="1700830" cy="34747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9718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D6A84F"/>
                </a:solidFill>
              </a:defRPr>
            </a:pPr>
            <a:r>
              <a:t>$82,315.64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79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65D"/>
                </a:solidFill>
              </a:defRPr>
            </a:pPr>
            <a:r>
              <a:t>Drinking Chocolate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886199"/>
            <a:ext cx="5577840" cy="3474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3886199"/>
            <a:ext cx="1496281" cy="347472"/>
          </a:xfrm>
          <a:prstGeom prst="rect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840479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67E64"/>
                </a:solidFill>
              </a:defRPr>
            </a:pPr>
            <a:r>
              <a:t>$72,416.00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65D"/>
                </a:solidFill>
              </a:defRPr>
            </a:pPr>
            <a:r>
              <a:t>Coffee beans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4754880"/>
            <a:ext cx="5577840" cy="34747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4754880"/>
            <a:ext cx="828253" cy="347472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7091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48235"/>
                </a:solidFill>
              </a:defRPr>
            </a:pPr>
            <a:r>
              <a:t>$40,085.25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67E64"/>
                </a:solidFill>
              </a:defRPr>
            </a:pPr>
            <a:r>
              <a:t>Insight: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687568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</a:defRPr>
            </a:pPr>
            <a:r>
              <a:t>Coffee is the clear category leader — protect its availability and keep it central to promotions.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Top 10 products by units sold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Earl Grey Rg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161288"/>
            <a:ext cx="4846320" cy="256032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04120" y="11430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4,708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18488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Dark chocolate Lg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636776"/>
            <a:ext cx="4805144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161848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4,668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0939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093976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Morning Sunrise Chai Rg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112264"/>
            <a:ext cx="4779410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209397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4,643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6946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569464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Latte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2587752"/>
            <a:ext cx="4737205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256946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4,602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44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044952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Peppermint Rg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3063240"/>
            <a:ext cx="4698089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304495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4,564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520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520440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Columbian Medium Roast 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3538728"/>
            <a:ext cx="4680589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352044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4,547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99592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995928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Traditional Blend Chai 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4014215"/>
            <a:ext cx="4644561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399592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4,512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4714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471416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Latte 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489704"/>
            <a:ext cx="4629120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20" y="44714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4,497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946904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946904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Our Old Time Diner Blend Sm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4965192"/>
            <a:ext cx="4615738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4946904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4,484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42239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422392"/>
            <a:ext cx="37490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F365D"/>
                </a:solidFill>
              </a:defRPr>
            </a:pPr>
            <a:r>
              <a:t>Serenity Green Tea Rg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5440679"/>
            <a:ext cx="4608533" cy="256032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4120" y="5422392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</a:defRPr>
            </a:pPr>
            <a:r>
              <a:t>4,477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080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67E64"/>
                </a:solidFill>
              </a:defRPr>
            </a:pPr>
            <a:r>
              <a:t>Best seller: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6080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365D"/>
                </a:solidFill>
              </a:defRPr>
            </a:pPr>
            <a:r>
              <a:t>Earl Grey Rg — 4,708 units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When does Bright Coffee perform best?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73320"/>
            <a:ext cx="914400" cy="3275919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6476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$41.3K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08:00–08:30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2066491"/>
            <a:ext cx="914400" cy="3282748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157931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$41.4K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08:30–09:00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987859"/>
            <a:ext cx="914400" cy="3361380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079299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$42.4K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09:00–09:30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956090"/>
            <a:ext cx="914400" cy="3393149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04753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$42.8K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09:30–10:00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882990"/>
            <a:ext cx="914400" cy="3466249"/>
          </a:xfrm>
          <a:prstGeom prst="rect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97443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$43.7K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10:00–10:30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1783079"/>
            <a:ext cx="914400" cy="3566160"/>
          </a:xfrm>
          <a:prstGeom prst="rect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7452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$45.0K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10:30–11:00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12680" y="3318302"/>
            <a:ext cx="914400" cy="2030937"/>
          </a:xfrm>
          <a:prstGeom prst="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9" y="3409742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F365D"/>
                </a:solidFill>
              </a:defRPr>
            </a:pPr>
            <a:r>
              <a:t>$25.6K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555955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</a:defRPr>
            </a:pPr>
            <a:r>
              <a:t>11:00–11:30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822960"/>
            <a:ext cx="2286000" cy="411480"/>
          </a:xfrm>
          <a:prstGeom prst="roundRect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896112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PEAK: 10:30–11:00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13716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E67E64"/>
                </a:solidFill>
              </a:defRPr>
            </a:pPr>
            <a:r>
              <a:t>$44,966.59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989320"/>
            <a:ext cx="6492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32323"/>
                </a:solidFill>
              </a:defRPr>
            </a:pPr>
            <a:r>
              <a:t>Protect stock + staffing in 09:00–11:00, then use targeted offers to lift slower periods.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Store performance + daily extremes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65D"/>
                </a:solidFill>
              </a:defRPr>
            </a:pPr>
            <a:r>
              <a:t>Hell's Kitchen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53312"/>
            <a:ext cx="5577840" cy="36576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353312"/>
            <a:ext cx="5577840" cy="365760"/>
          </a:xfrm>
          <a:prstGeom prst="roundRect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132588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6F4E37"/>
                </a:solidFill>
              </a:defRPr>
            </a:pPr>
            <a:r>
              <a:t>$236,511.17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65D"/>
                </a:solidFill>
              </a:defRPr>
            </a:pPr>
            <a:r>
              <a:t>Astoria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450591"/>
            <a:ext cx="5577840" cy="36576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450591"/>
            <a:ext cx="5477201" cy="365760"/>
          </a:xfrm>
          <a:prstGeom prst="roundRect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4231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F7E8D"/>
                </a:solidFill>
              </a:defRPr>
            </a:pPr>
            <a:r>
              <a:t>$232,243.91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39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365D"/>
                </a:solidFill>
              </a:defRPr>
            </a:pPr>
            <a:r>
              <a:t>Lower Manhattan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547871"/>
            <a:ext cx="5577840" cy="36576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3547871"/>
            <a:ext cx="5425631" cy="365760"/>
          </a:xfrm>
          <a:prstGeom prst="round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520439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6A84F"/>
                </a:solidFill>
              </a:defRPr>
            </a:pPr>
            <a:r>
              <a:t>$230,057.25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F7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828031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HIGHEST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66359"/>
            <a:ext cx="27797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F7E8D"/>
                </a:solidFill>
              </a:defRPr>
            </a:pPr>
            <a:r>
              <a:t>19 Jun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742431"/>
            <a:ext cx="277977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$6,403.91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66344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828031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LOWEST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5166359"/>
            <a:ext cx="27797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67E64"/>
                </a:solidFill>
              </a:defRPr>
            </a:pPr>
            <a:r>
              <a:t>28 Jan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5742431"/>
            <a:ext cx="277977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$2,037.10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663440"/>
            <a:ext cx="310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4828031"/>
            <a:ext cx="2779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DAILY 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5166359"/>
            <a:ext cx="277977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D6A84F"/>
                </a:solidFill>
              </a:defRPr>
            </a:pPr>
            <a:r>
              <a:t>$4,366.81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5742431"/>
            <a:ext cx="277977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</a:defRPr>
            </a:pPr>
            <a:r>
              <a:t>Peak vs. lowest day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1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So… what should the CEO do?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6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90472"/>
            <a:ext cx="4791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BOOST SLOW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28800"/>
            <a:ext cx="47914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67E64"/>
                </a:solidFill>
              </a:defRPr>
            </a:pPr>
            <a:r>
              <a:t>Launch targeted promotions outside the morning peak.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2F7E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490472"/>
            <a:ext cx="4791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PROTECT BEST SELLERS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28800"/>
            <a:ext cx="47914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F7E8D"/>
                </a:solidFill>
              </a:defRPr>
            </a:pPr>
            <a:r>
              <a:t>Stock high-volume items and leading product types.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6A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730752"/>
            <a:ext cx="4791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FIX THE SLOW MOVERS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069080"/>
            <a:ext cx="47914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D6A84F"/>
                </a:solidFill>
              </a:defRPr>
            </a:pPr>
            <a:r>
              <a:t>Bundle low-velocity products with best sellers.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6F4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730752"/>
            <a:ext cx="4791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F4E37"/>
                </a:solidFill>
              </a:defRPr>
            </a:pPr>
            <a:r>
              <a:t>COPY WHAT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069080"/>
            <a:ext cx="47914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6F4E37"/>
                </a:solidFill>
              </a:defRPr>
            </a:pPr>
            <a:r>
              <a:t>Use Hell's Kitchen performance as a playbook.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365D"/>
                </a:solidFill>
              </a:defRPr>
            </a:pPr>
            <a:r>
              <a:t>Next steps: turn analysis into a system</a:t>
            </a:r>
          </a:p>
        </p:txBody>
      </p:sp>
      <p:sp>
        <p:nvSpPr>
          <p:cNvPr id="4" name="Oval 3"/>
          <p:cNvSpPr/>
          <p:nvPr/>
        </p:nvSpPr>
        <p:spPr>
          <a:xfrm>
            <a:off x="10927080" y="256032"/>
            <a:ext cx="594360" cy="59436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35661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F365D"/>
                </a:solidFill>
              </a:defRPr>
            </a:pPr>
            <a: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325880"/>
            <a:ext cx="731520" cy="731520"/>
          </a:xfrm>
          <a:prstGeom prst="ellipse">
            <a:avLst/>
          </a:prstGeom>
          <a:solidFill>
            <a:srgbClr val="2F7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63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F7E8D"/>
                </a:solidFill>
              </a:defRPr>
            </a:pPr>
            <a:r>
              <a:t>Automate daily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</a:defRPr>
            </a:pPr>
            <a:r>
              <a:t>Schedule ETL + SQL + dashboard refreshes.</a:t>
            </a:r>
          </a:p>
        </p:txBody>
      </p:sp>
      <p:sp>
        <p:nvSpPr>
          <p:cNvPr id="10" name="Oval 9"/>
          <p:cNvSpPr/>
          <p:nvPr/>
        </p:nvSpPr>
        <p:spPr>
          <a:xfrm>
            <a:off x="3447288" y="1325880"/>
            <a:ext cx="731520" cy="731520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563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F4E37"/>
                </a:solidFill>
              </a:defRPr>
            </a:pPr>
            <a:r>
              <a:t>Track more locations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01752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</a:defRPr>
            </a:pPr>
            <a:r>
              <a:t>Benchmark stores consistently as Bright Coffee grows.</a:t>
            </a:r>
          </a:p>
        </p:txBody>
      </p:sp>
      <p:sp>
        <p:nvSpPr>
          <p:cNvPr id="14" name="Oval 13"/>
          <p:cNvSpPr/>
          <p:nvPr/>
        </p:nvSpPr>
        <p:spPr>
          <a:xfrm>
            <a:off x="6300216" y="1325880"/>
            <a:ext cx="731520" cy="731520"/>
          </a:xfrm>
          <a:prstGeom prst="ellipse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563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D6A84F"/>
                </a:solidFill>
              </a:defRPr>
            </a:pPr>
            <a:r>
              <a:t>Build loyalty programmes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01752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</a:defRPr>
            </a:pPr>
            <a:r>
              <a:t>Use peak time patterns to target rewards.</a:t>
            </a:r>
          </a:p>
        </p:txBody>
      </p:sp>
      <p:sp>
        <p:nvSpPr>
          <p:cNvPr id="18" name="Oval 17"/>
          <p:cNvSpPr/>
          <p:nvPr/>
        </p:nvSpPr>
        <p:spPr>
          <a:xfrm>
            <a:off x="9153144" y="1325880"/>
            <a:ext cx="731520" cy="731520"/>
          </a:xfrm>
          <a:prstGeom prst="ellipse">
            <a:avLst/>
          </a:prstGeom>
          <a:solidFill>
            <a:srgbClr val="E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563624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67E64"/>
                </a:solidFill>
              </a:defRPr>
            </a:pPr>
            <a:r>
              <a:t>Optimise peak 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01752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</a:defRPr>
            </a:pPr>
            <a:r>
              <a:t>Align staffing, stock and promotions around 10:30.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D6A84F"/>
                </a:solidFill>
              </a:defRPr>
            </a:pPr>
            <a:r>
              <a:t>THE BIG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Bright Coffee has a strong core business — the opportunity is to optimise when, what and where it sells.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D6A84F"/>
                </a:solidFill>
              </a:defRPr>
            </a:pPr>
            <a:r>
              <a:t>$698.8K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8F2E6"/>
                </a:solidFill>
              </a:defRPr>
            </a:pPr>
            <a: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7033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E67E64"/>
                </a:solidFill>
              </a:defRPr>
            </a:pPr>
            <a:r>
              <a:t>10:30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8F2E6"/>
                </a:solidFill>
              </a:defRPr>
            </a:pPr>
            <a:r>
              <a:t>PEAK INTERVAL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7033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2F7E8D"/>
                </a:solidFill>
              </a:defRPr>
            </a:pPr>
            <a:r>
              <a:t>4,708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4297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8F2E6"/>
                </a:solidFill>
              </a:defRPr>
            </a:pPr>
            <a:r>
              <a:t>TOP SKU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3703320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548235"/>
                </a:solidFill>
              </a:defRPr>
            </a:pPr>
            <a:r>
              <a:t>$236.5K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42976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8F2E6"/>
                </a:solidFill>
              </a:defRPr>
            </a:pPr>
            <a:r>
              <a:t>TOP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235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